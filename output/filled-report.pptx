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12192000"/>
  <p:notesSz cx="6858000" cy="9144000"/>
  <p:embeddedFontLst>
    <p:embeddedFont>
      <p:font typeface="Montserrat SemiBold"/>
      <p:regular r:id="rId8"/>
      <p:bold r:id="rId9"/>
      <p:italic r:id="rId10"/>
      <p:boldItalic r:id="rId11"/>
    </p:embeddedFont>
    <p:embeddedFont>
      <p:font typeface="Montserrat Medium"/>
      <p:regular r:id="rId12"/>
      <p:bold r:id="rId13"/>
      <p:italic r:id="rId14"/>
      <p:boldItalic r:id="rId15"/>
    </p:embeddedFont>
    <p:embeddedFont>
      <p:font typeface="Helvetica Neue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gjf0EHCll7WRWIO0tUgUBe8D6B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D35EBEF-B960-4722-BDED-C023B2E7E579}">
  <a:tblStyle styleId="{CD35EBEF-B960-4722-BDED-C023B2E7E57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font" Target="fonts/MontserratSemiBold-boldItalic.fntdata"/><Relationship Id="rId10" Type="http://schemas.openxmlformats.org/officeDocument/2006/relationships/font" Target="fonts/MontserratSemiBold-italic.fntdata"/><Relationship Id="rId13" Type="http://schemas.openxmlformats.org/officeDocument/2006/relationships/font" Target="fonts/MontserratMedium-bold.fntdata"/><Relationship Id="rId12" Type="http://schemas.openxmlformats.org/officeDocument/2006/relationships/font" Target="fonts/MontserratMedium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font" Target="fonts/MontserratSemiBold-bold.fntdata"/><Relationship Id="rId15" Type="http://schemas.openxmlformats.org/officeDocument/2006/relationships/font" Target="fonts/MontserratMedium-boldItalic.fntdata"/><Relationship Id="rId14" Type="http://schemas.openxmlformats.org/officeDocument/2006/relationships/font" Target="fonts/MontserratMedium-italic.fntdata"/><Relationship Id="rId17" Type="http://schemas.openxmlformats.org/officeDocument/2006/relationships/font" Target="fonts/HelveticaNeue-bold.fntdata"/><Relationship Id="rId16" Type="http://schemas.openxmlformats.org/officeDocument/2006/relationships/font" Target="fonts/HelveticaNeue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HelveticaNeue-boldItalic.fntdata"/><Relationship Id="rId6" Type="http://schemas.openxmlformats.org/officeDocument/2006/relationships/slide" Target="slides/slide1.xml"/><Relationship Id="rId18" Type="http://schemas.openxmlformats.org/officeDocument/2006/relationships/font" Target="fonts/HelveticaNeue-italic.fntdata"/><Relationship Id="rId7" Type="http://schemas.openxmlformats.org/officeDocument/2006/relationships/slide" Target="slides/slide2.xml"/><Relationship Id="rId8" Type="http://schemas.openxmlformats.org/officeDocument/2006/relationships/font" Target="fonts/Montserrat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99ac7daa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g3a99ac7daa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c269c06e9d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g3c269c06e9d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" name="Google Shape;88;g3a99ac7daa2_0_0"/>
          <p:cNvGraphicFramePr/>
          <p:nvPr/>
        </p:nvGraphicFramePr>
        <p:xfrm>
          <a:off x="306450" y="2624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{CD35EBEF-B960-4722-BDED-C023B2E7E579}</a:tableStyleId>
              </a:tblPr>
              <a:tblGrid>
                <a:gridCol w="594050"/>
                <a:gridCol w="2513925"/>
                <a:gridCol w="756000"/>
                <a:gridCol w="1086750"/>
                <a:gridCol w="1821175"/>
              </a:tblGrid>
              <a:tr h="26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#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Mérföldkő / Fő leszállítandó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Státusz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% készenlét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Komment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>
                    <a:solidFill>
                      <a:schemeClr val="dk1"/>
                    </a:solidFill>
                  </a:tcPr>
                </a:tc>
              </a:tr>
              <a:tr h="487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1.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UX és UI </a:t>
                      </a: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alapok definiálása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95%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Felhasználói feedback-ek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</a:tr>
              <a:tr h="487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2.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Alkalmazás- és adat alapstruktúra </a:t>
                      </a: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kialakítása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100%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</a:tr>
              <a:tr h="487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3.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Dokumentum feltöltés és -kezelés </a:t>
                      </a: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modul implementálása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100%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</a:tr>
              <a:tr h="487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4.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AI-alapú </a:t>
                      </a:r>
                      <a:r>
                        <a:rPr b="1"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dokumentum chunking </a:t>
                      </a: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implementálása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100%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</a:tr>
              <a:tr h="487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5.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Validációs engine </a:t>
                      </a: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és szabálykészlet implementálása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90%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</a:tr>
              <a:tr h="487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6.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AI workflow és prompting </a:t>
                      </a: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optimalizálása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40%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Közös tesztelésből findingok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89" name="Google Shape;89;g3a99ac7daa2_0_0"/>
          <p:cNvSpPr/>
          <p:nvPr/>
        </p:nvSpPr>
        <p:spPr>
          <a:xfrm>
            <a:off x="7346025" y="1983425"/>
            <a:ext cx="4436400" cy="1187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61290" lvl="0" marL="32004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elvetica Neue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UX és UI 95%-os készültségi szintre jutott, a fő képernyők, folyamatok és vizuális elemek elkészültek</a:t>
            </a:r>
            <a:endParaRPr b="0" i="0" sz="11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61290" lvl="0" marL="32004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elvetica Neue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Validation Engine ~90%-os készültségű, több pilot dokumentumon sikeresen lefutott</a:t>
            </a:r>
            <a:endParaRPr b="0" i="0" sz="11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61290" lvl="0" marL="32004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elvetica Neue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Megkezdődött az AI workflow és prompting optimalizálása</a:t>
            </a:r>
            <a:endParaRPr b="0" i="0" sz="11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0" name="Google Shape;90;g3a99ac7daa2_0_0"/>
          <p:cNvSpPr txBox="1"/>
          <p:nvPr/>
        </p:nvSpPr>
        <p:spPr>
          <a:xfrm>
            <a:off x="262950" y="493650"/>
            <a:ext cx="11123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AI Dokumentum Validációs Rendszer Fejlesztése – Státusz</a:t>
            </a:r>
            <a:endParaRPr b="0" i="0" sz="28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1" name="Google Shape;91;g3a99ac7daa2_0_0"/>
          <p:cNvSpPr/>
          <p:nvPr/>
        </p:nvSpPr>
        <p:spPr>
          <a:xfrm>
            <a:off x="300100" y="1125359"/>
            <a:ext cx="6771900" cy="461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ÁLTALÁNOS STÁTUSZ</a:t>
            </a:r>
            <a:endParaRPr b="1" i="0" sz="14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" name="Google Shape;92;g3a99ac7daa2_0_0"/>
          <p:cNvSpPr/>
          <p:nvPr/>
        </p:nvSpPr>
        <p:spPr>
          <a:xfrm>
            <a:off x="7346025" y="1125359"/>
            <a:ext cx="4436400" cy="461700"/>
          </a:xfrm>
          <a:prstGeom prst="rect">
            <a:avLst/>
          </a:prstGeom>
          <a:solidFill>
            <a:srgbClr val="3FC71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DÁTUM: 2025.12.09.</a:t>
            </a:r>
            <a:endParaRPr b="1" i="0" sz="14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g3a99ac7daa2_0_0"/>
          <p:cNvSpPr/>
          <p:nvPr/>
        </p:nvSpPr>
        <p:spPr>
          <a:xfrm>
            <a:off x="306500" y="1672900"/>
            <a:ext cx="6771900" cy="79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61290" lvl="0" marL="32004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elvetica Neue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Az AI-alapú dokumentum-validációs rendszer fő moduljai (dokumentum-feltöltés, AI feldarabolás, validációs engine, UX/UI keretrendszer) elkészültek első verzióban</a:t>
            </a:r>
            <a:endParaRPr b="0" i="0" sz="11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61290" lvl="0" marL="320040" marR="0" rtl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100"/>
              <a:buFont typeface="Helvetica Neue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fókusz a validációs szabálykészlet, a felhasználói felület és az AI workflow finomhangolásán, valamint a felhasználói teszteken és visszajelzéseken alapuló véglegesítésen van</a:t>
            </a:r>
            <a:endParaRPr b="0" i="0" sz="11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" name="Google Shape;94;g3a99ac7daa2_0_0"/>
          <p:cNvSpPr/>
          <p:nvPr/>
        </p:nvSpPr>
        <p:spPr>
          <a:xfrm>
            <a:off x="7346025" y="3639050"/>
            <a:ext cx="4436400" cy="1187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61290" lvl="0" marL="32004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Felhasználói tesztek futtatása a kulcsfelhasználókkal az end-to-end folyamaton, visszajelzések strukturált gyűjtése</a:t>
            </a:r>
            <a:endParaRPr b="0" i="0" sz="11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61290" lvl="0" marL="32004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teszteredmények alapján a Validation Engine véglegesítése és a fő validációs profil jóváhagyásának előkészítése</a:t>
            </a:r>
            <a:endParaRPr b="0" i="0" sz="11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61290" lvl="0" marL="32004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Az AI workflow és prompting optimalizálásának folytatása</a:t>
            </a:r>
            <a:endParaRPr b="0" i="0" sz="11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" name="Google Shape;95;g3a99ac7daa2_0_0"/>
          <p:cNvSpPr/>
          <p:nvPr/>
        </p:nvSpPr>
        <p:spPr>
          <a:xfrm>
            <a:off x="7346025" y="5294675"/>
            <a:ext cx="4436400" cy="646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61290" lvl="0" marL="32004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Investor relations csapat riportkészítési folyamatának megismerése</a:t>
            </a:r>
            <a:endParaRPr b="0" i="0" sz="11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61290" lvl="0" marL="32004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Felhasználói tesztelés</a:t>
            </a:r>
            <a:endParaRPr b="0" i="0" sz="11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6" name="Google Shape;96;g3a99ac7daa2_0_0"/>
          <p:cNvSpPr/>
          <p:nvPr/>
        </p:nvSpPr>
        <p:spPr>
          <a:xfrm>
            <a:off x="7346025" y="1675325"/>
            <a:ext cx="4436400" cy="308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MÚLT HÉTEN ELVÉGZETT MUNKA</a:t>
            </a:r>
            <a:endParaRPr b="1" i="0" sz="14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" name="Google Shape;97;g3a99ac7daa2_0_0"/>
          <p:cNvSpPr/>
          <p:nvPr/>
        </p:nvSpPr>
        <p:spPr>
          <a:xfrm>
            <a:off x="7346025" y="3330950"/>
            <a:ext cx="4436400" cy="308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FŐ FELADATOK A HÉTRE</a:t>
            </a:r>
            <a:endParaRPr b="1" i="0" sz="14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" name="Google Shape;98;g3a99ac7daa2_0_0"/>
          <p:cNvSpPr/>
          <p:nvPr/>
        </p:nvSpPr>
        <p:spPr>
          <a:xfrm>
            <a:off x="7346025" y="4986575"/>
            <a:ext cx="4436400" cy="308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NYITOTT KÉRDÉSEK, KOCKÁZATOK</a:t>
            </a:r>
            <a:endParaRPr b="1" i="0" sz="14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" name="Google Shape;99;g3a99ac7daa2_0_0"/>
          <p:cNvSpPr/>
          <p:nvPr/>
        </p:nvSpPr>
        <p:spPr>
          <a:xfrm>
            <a:off x="3657325" y="3123381"/>
            <a:ext cx="229200" cy="2292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g3a99ac7daa2_0_0"/>
          <p:cNvSpPr/>
          <p:nvPr/>
        </p:nvSpPr>
        <p:spPr>
          <a:xfrm>
            <a:off x="3657325" y="3618739"/>
            <a:ext cx="229200" cy="2292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g3a99ac7daa2_0_0"/>
          <p:cNvSpPr/>
          <p:nvPr/>
        </p:nvSpPr>
        <p:spPr>
          <a:xfrm>
            <a:off x="3631100" y="6250375"/>
            <a:ext cx="170100" cy="1701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g3a99ac7daa2_0_0"/>
          <p:cNvSpPr txBox="1"/>
          <p:nvPr/>
        </p:nvSpPr>
        <p:spPr>
          <a:xfrm>
            <a:off x="3817413" y="6166075"/>
            <a:ext cx="10860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Haladás tervek szerint</a:t>
            </a:r>
            <a:endParaRPr b="0" i="0" sz="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" name="Google Shape;103;g3a99ac7daa2_0_0"/>
          <p:cNvSpPr/>
          <p:nvPr/>
        </p:nvSpPr>
        <p:spPr>
          <a:xfrm>
            <a:off x="4752025" y="6237450"/>
            <a:ext cx="170100" cy="1701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g3a99ac7daa2_0_0"/>
          <p:cNvSpPr/>
          <p:nvPr/>
        </p:nvSpPr>
        <p:spPr>
          <a:xfrm>
            <a:off x="7102688" y="6250375"/>
            <a:ext cx="170100" cy="170100"/>
          </a:xfrm>
          <a:prstGeom prst="rect">
            <a:avLst/>
          </a:prstGeom>
          <a:solidFill>
            <a:srgbClr val="6D9EEB"/>
          </a:solidFill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3a99ac7daa2_0_0"/>
          <p:cNvSpPr txBox="1"/>
          <p:nvPr/>
        </p:nvSpPr>
        <p:spPr>
          <a:xfrm>
            <a:off x="4922125" y="6184050"/>
            <a:ext cx="91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 nem kezdett</a:t>
            </a:r>
            <a:endParaRPr b="0" i="0" sz="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6" name="Google Shape;106;g3a99ac7daa2_0_0"/>
          <p:cNvSpPr txBox="1"/>
          <p:nvPr/>
        </p:nvSpPr>
        <p:spPr>
          <a:xfrm>
            <a:off x="7272788" y="6166075"/>
            <a:ext cx="9177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 nem kezdett, csúszásban</a:t>
            </a:r>
            <a:endParaRPr b="0" i="0" sz="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" name="Google Shape;107;g3a99ac7daa2_0_0"/>
          <p:cNvSpPr/>
          <p:nvPr/>
        </p:nvSpPr>
        <p:spPr>
          <a:xfrm>
            <a:off x="8336613" y="6234925"/>
            <a:ext cx="170100" cy="170100"/>
          </a:xfrm>
          <a:prstGeom prst="rect">
            <a:avLst/>
          </a:prstGeom>
          <a:solidFill>
            <a:srgbClr val="FFE599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3a99ac7daa2_0_0"/>
          <p:cNvSpPr/>
          <p:nvPr/>
        </p:nvSpPr>
        <p:spPr>
          <a:xfrm>
            <a:off x="5858525" y="6234925"/>
            <a:ext cx="170100" cy="1701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g3a99ac7daa2_0_0"/>
          <p:cNvSpPr txBox="1"/>
          <p:nvPr/>
        </p:nvSpPr>
        <p:spPr>
          <a:xfrm>
            <a:off x="8501150" y="6166075"/>
            <a:ext cx="12489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Csúszásban – mérföldkő tartható</a:t>
            </a:r>
            <a:endParaRPr b="0" i="0" sz="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0" name="Google Shape;110;g3a99ac7daa2_0_0"/>
          <p:cNvSpPr txBox="1"/>
          <p:nvPr/>
        </p:nvSpPr>
        <p:spPr>
          <a:xfrm>
            <a:off x="6036113" y="6166075"/>
            <a:ext cx="13551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Teljesített kisebb csúszással</a:t>
            </a:r>
            <a:endParaRPr b="0" i="0" sz="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1" name="Google Shape;111;g3a99ac7daa2_0_0"/>
          <p:cNvSpPr/>
          <p:nvPr/>
        </p:nvSpPr>
        <p:spPr>
          <a:xfrm>
            <a:off x="2512625" y="6252900"/>
            <a:ext cx="170100" cy="1701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a99ac7daa2_0_0"/>
          <p:cNvSpPr txBox="1"/>
          <p:nvPr/>
        </p:nvSpPr>
        <p:spPr>
          <a:xfrm>
            <a:off x="2682725" y="6184050"/>
            <a:ext cx="10398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Tervek szerint teljesített</a:t>
            </a:r>
            <a:endParaRPr b="0" i="0" sz="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" name="Google Shape;113;g3a99ac7daa2_0_0"/>
          <p:cNvSpPr/>
          <p:nvPr/>
        </p:nvSpPr>
        <p:spPr>
          <a:xfrm>
            <a:off x="9742263" y="6247225"/>
            <a:ext cx="170100" cy="1701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3a99ac7daa2_0_0"/>
          <p:cNvSpPr txBox="1"/>
          <p:nvPr/>
        </p:nvSpPr>
        <p:spPr>
          <a:xfrm>
            <a:off x="9907400" y="6166075"/>
            <a:ext cx="13062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Csúszásban – mérföldkő veszélyeztetve</a:t>
            </a:r>
            <a:endParaRPr b="0" i="0" sz="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5" name="Google Shape;115;g3a99ac7daa2_0_0"/>
          <p:cNvSpPr/>
          <p:nvPr/>
        </p:nvSpPr>
        <p:spPr>
          <a:xfrm>
            <a:off x="3657325" y="4095518"/>
            <a:ext cx="229200" cy="2292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3a99ac7daa2_0_0"/>
          <p:cNvSpPr/>
          <p:nvPr/>
        </p:nvSpPr>
        <p:spPr>
          <a:xfrm>
            <a:off x="3657325" y="4584405"/>
            <a:ext cx="229200" cy="2292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3a99ac7daa2_0_0"/>
          <p:cNvSpPr/>
          <p:nvPr/>
        </p:nvSpPr>
        <p:spPr>
          <a:xfrm>
            <a:off x="3657325" y="5076211"/>
            <a:ext cx="229200" cy="2292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3a99ac7daa2_0_0"/>
          <p:cNvSpPr/>
          <p:nvPr/>
        </p:nvSpPr>
        <p:spPr>
          <a:xfrm>
            <a:off x="3657325" y="5556530"/>
            <a:ext cx="229200" cy="2292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g3a99ac7daa2_0_0" title="ChatGPT Image May 22, 2025, 12_25_08 PM.png"/>
          <p:cNvPicPr preferRelativeResize="0"/>
          <p:nvPr/>
        </p:nvPicPr>
        <p:blipFill rotWithShape="1">
          <a:blip r:embed="rId3">
            <a:alphaModFix/>
          </a:blip>
          <a:srcRect b="37022" l="0" r="0" t="35767"/>
          <a:stretch/>
        </p:blipFill>
        <p:spPr>
          <a:xfrm>
            <a:off x="392600" y="6259750"/>
            <a:ext cx="1697027" cy="461701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g3a99ac7daa2_0_0"/>
          <p:cNvSpPr txBox="1"/>
          <p:nvPr>
            <p:ph idx="12" type="sldNum"/>
          </p:nvPr>
        </p:nvSpPr>
        <p:spPr>
          <a:xfrm>
            <a:off x="90221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1" name="Google Shape;121;g3a99ac7daa2_0_0"/>
          <p:cNvSpPr txBox="1"/>
          <p:nvPr/>
        </p:nvSpPr>
        <p:spPr>
          <a:xfrm>
            <a:off x="262950" y="210500"/>
            <a:ext cx="9753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AI Dokumentum Validációs Rendszer Fejlesztése</a:t>
            </a:r>
            <a:endParaRPr b="0" i="0" sz="11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6" name="Google Shape;126;g3c269c06e9d_0_0"/>
          <p:cNvGraphicFramePr/>
          <p:nvPr/>
        </p:nvGraphicFramePr>
        <p:xfrm>
          <a:off x="306450" y="2624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{CD35EBEF-B960-4722-BDED-C023B2E7E579}</a:tableStyleId>
              </a:tblPr>
              <a:tblGrid>
                <a:gridCol w="594050"/>
                <a:gridCol w="2513925"/>
                <a:gridCol w="756000"/>
                <a:gridCol w="1086750"/>
                <a:gridCol w="1821175"/>
              </a:tblGrid>
              <a:tr h="26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#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Mérföldkő / Fő leszállítandó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Státusz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% készenlét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Komment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>
                    <a:solidFill>
                      <a:schemeClr val="dk1"/>
                    </a:solidFill>
                  </a:tcPr>
                </a:tc>
              </a:tr>
              <a:tr h="487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1.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UX és UI </a:t>
                      </a: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alapok definiálása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100%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Befejezve és jóváhagyva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</a:tr>
              <a:tr h="487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2.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Alkalmazás- és adat alapstruktúra </a:t>
                      </a: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kialakítása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85%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Haladás a tervek szerint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</a:tr>
              <a:tr h="487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3.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Dokumentum feltöltés és -kezelés </a:t>
                      </a: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modul implementálása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60%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Kisebb csúszás várható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</a:tr>
              <a:tr h="487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4.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AI-alapú </a:t>
                      </a:r>
                      <a:r>
                        <a:rPr b="1"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dokumentum chunking </a:t>
                      </a: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implementálása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45%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Fejlesztés alatt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</a:tr>
              <a:tr h="487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5.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Validációs engine </a:t>
                      </a: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és szabálykészlet implementálása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30%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Tervezés fázisában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</a:tr>
              <a:tr h="487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6.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AI workflow és prompting </a:t>
                      </a: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optimalizálása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15%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Még nem kezdődött el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27" name="Google Shape;127;g3c269c06e9d_0_0"/>
          <p:cNvSpPr/>
          <p:nvPr/>
        </p:nvSpPr>
        <p:spPr>
          <a:xfrm>
            <a:off x="7346025" y="1983425"/>
            <a:ext cx="4436400" cy="1187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863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61290" lvl="0" marL="32004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elvetica Neue"/>
              <a:buChar char="●"/>
            </a:pPr>
            <a:r>
              <a:rPr lang="en-US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API integráció befejezve, tesztelés megkezdve.</a:t>
            </a:r>
            <a:endParaRPr b="0" i="0" sz="11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8" name="Google Shape;128;g3c269c06e9d_0_0"/>
          <p:cNvSpPr txBox="1"/>
          <p:nvPr/>
        </p:nvSpPr>
        <p:spPr>
          <a:xfrm>
            <a:off x="262950" y="493650"/>
            <a:ext cx="11123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AI Dokumentum Validációs Rendszer Fejlesztése – Státusz</a:t>
            </a:r>
            <a:endParaRPr b="0" i="0" sz="28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9" name="Google Shape;129;g3c269c06e9d_0_0"/>
          <p:cNvSpPr/>
          <p:nvPr/>
        </p:nvSpPr>
        <p:spPr>
          <a:xfrm>
            <a:off x="300100" y="1125359"/>
            <a:ext cx="6771900" cy="461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ÁLTALÁNOS STÁTUSZ</a:t>
            </a:r>
            <a:endParaRPr b="1" i="0" sz="14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0" name="Google Shape;130;g3c269c06e9d_0_0"/>
          <p:cNvSpPr/>
          <p:nvPr/>
        </p:nvSpPr>
        <p:spPr>
          <a:xfrm>
            <a:off x="7346025" y="1125359"/>
            <a:ext cx="4436400" cy="461700"/>
          </a:xfrm>
          <a:prstGeom prst="rect">
            <a:avLst/>
          </a:prstGeom>
          <a:solidFill>
            <a:srgbClr val="3FC71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2024 Q1</a:t>
            </a:r>
            <a:endParaRPr b="1" i="0" sz="14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1" name="Google Shape;131;g3c269c06e9d_0_0"/>
          <p:cNvSpPr/>
          <p:nvPr/>
        </p:nvSpPr>
        <p:spPr>
          <a:xfrm>
            <a:off x="306500" y="1672900"/>
            <a:ext cx="6771900" cy="79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863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61290" lvl="0" marL="320040" marR="0" rtl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100"/>
              <a:buFont typeface="Helvetica Neue"/>
              <a:buChar char="●"/>
            </a:pPr>
            <a:r>
              <a:rPr lang="en-US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Az általános státusz összefoglalója itt található.</a:t>
            </a:r>
            <a:endParaRPr b="0" i="0" sz="11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2" name="Google Shape;132;g3c269c06e9d_0_0"/>
          <p:cNvSpPr/>
          <p:nvPr/>
        </p:nvSpPr>
        <p:spPr>
          <a:xfrm>
            <a:off x="7346025" y="3639050"/>
            <a:ext cx="4436400" cy="1187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863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61290" lvl="0" marL="32004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●"/>
            </a:pPr>
            <a:r>
              <a:rPr lang="en-US" sz="1100">
                <a:latin typeface="Helvetica Neue"/>
                <a:ea typeface="Helvetica Neue"/>
                <a:cs typeface="Helvetica Neue"/>
                <a:sym typeface="Helvetica Neue"/>
              </a:rPr>
              <a:t>Frontend fejlesztés és hibakeresés.</a:t>
            </a:r>
            <a:endParaRPr b="0" i="0" sz="11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3" name="Google Shape;133;g3c269c06e9d_0_0"/>
          <p:cNvSpPr/>
          <p:nvPr/>
        </p:nvSpPr>
        <p:spPr>
          <a:xfrm>
            <a:off x="7346025" y="5294675"/>
            <a:ext cx="4436400" cy="646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863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61290" lvl="0" marL="32004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●"/>
            </a:pPr>
            <a:r>
              <a:rPr lang="en-US" sz="1100">
                <a:latin typeface="Helvetica Neue"/>
                <a:ea typeface="Helvetica Neue"/>
                <a:cs typeface="Helvetica Neue"/>
                <a:sym typeface="Helvetica Neue"/>
              </a:rPr>
              <a:t>Nincs kritikus kockázat jelenleg.</a:t>
            </a:r>
            <a:endParaRPr b="0" i="0" sz="11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4" name="Google Shape;134;g3c269c06e9d_0_0"/>
          <p:cNvSpPr/>
          <p:nvPr/>
        </p:nvSpPr>
        <p:spPr>
          <a:xfrm>
            <a:off x="7346025" y="1675325"/>
            <a:ext cx="4436400" cy="308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MÚLT HÉTEN ELVÉGZETT MUNKA</a:t>
            </a:r>
            <a:endParaRPr b="1" i="0" sz="14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5" name="Google Shape;135;g3c269c06e9d_0_0"/>
          <p:cNvSpPr/>
          <p:nvPr/>
        </p:nvSpPr>
        <p:spPr>
          <a:xfrm>
            <a:off x="7346025" y="3330950"/>
            <a:ext cx="4436400" cy="308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FŐ FELADATOK A HÉTRE</a:t>
            </a:r>
            <a:endParaRPr b="1" i="0" sz="14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6" name="Google Shape;136;g3c269c06e9d_0_0"/>
          <p:cNvSpPr/>
          <p:nvPr/>
        </p:nvSpPr>
        <p:spPr>
          <a:xfrm>
            <a:off x="7346025" y="4986575"/>
            <a:ext cx="4436400" cy="308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NYITOTT KÉRDÉSEK, KOCKÁZATOK</a:t>
            </a:r>
            <a:endParaRPr b="1" i="0" sz="14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7" name="Google Shape;137;g3c269c06e9d_0_0"/>
          <p:cNvSpPr/>
          <p:nvPr/>
        </p:nvSpPr>
        <p:spPr>
          <a:xfrm>
            <a:off x="3657325" y="3123381"/>
            <a:ext cx="229200" cy="2292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g3c269c06e9d_0_0"/>
          <p:cNvSpPr/>
          <p:nvPr/>
        </p:nvSpPr>
        <p:spPr>
          <a:xfrm>
            <a:off x="3657325" y="3618739"/>
            <a:ext cx="229200" cy="2292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3c269c06e9d_0_0"/>
          <p:cNvSpPr/>
          <p:nvPr/>
        </p:nvSpPr>
        <p:spPr>
          <a:xfrm>
            <a:off x="3631100" y="6250375"/>
            <a:ext cx="170100" cy="1701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3c269c06e9d_0_0"/>
          <p:cNvSpPr txBox="1"/>
          <p:nvPr/>
        </p:nvSpPr>
        <p:spPr>
          <a:xfrm>
            <a:off x="3817413" y="6166075"/>
            <a:ext cx="10860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Haladás tervek szerint</a:t>
            </a:r>
            <a:endParaRPr b="0" i="0" sz="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1" name="Google Shape;141;g3c269c06e9d_0_0"/>
          <p:cNvSpPr/>
          <p:nvPr/>
        </p:nvSpPr>
        <p:spPr>
          <a:xfrm>
            <a:off x="4752025" y="6237450"/>
            <a:ext cx="170100" cy="1701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g3c269c06e9d_0_0"/>
          <p:cNvSpPr/>
          <p:nvPr/>
        </p:nvSpPr>
        <p:spPr>
          <a:xfrm>
            <a:off x="7102688" y="6250375"/>
            <a:ext cx="170100" cy="170100"/>
          </a:xfrm>
          <a:prstGeom prst="rect">
            <a:avLst/>
          </a:prstGeom>
          <a:solidFill>
            <a:srgbClr val="6D9EEB"/>
          </a:solidFill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c269c06e9d_0_0"/>
          <p:cNvSpPr txBox="1"/>
          <p:nvPr/>
        </p:nvSpPr>
        <p:spPr>
          <a:xfrm>
            <a:off x="4922125" y="6184050"/>
            <a:ext cx="91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 nem kezdett</a:t>
            </a:r>
            <a:endParaRPr b="0" i="0" sz="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4" name="Google Shape;144;g3c269c06e9d_0_0"/>
          <p:cNvSpPr txBox="1"/>
          <p:nvPr/>
        </p:nvSpPr>
        <p:spPr>
          <a:xfrm>
            <a:off x="7272788" y="6166075"/>
            <a:ext cx="9177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 nem kezdett, csúszásban</a:t>
            </a:r>
            <a:endParaRPr b="0" i="0" sz="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5" name="Google Shape;145;g3c269c06e9d_0_0"/>
          <p:cNvSpPr/>
          <p:nvPr/>
        </p:nvSpPr>
        <p:spPr>
          <a:xfrm>
            <a:off x="8336613" y="6234925"/>
            <a:ext cx="170100" cy="170100"/>
          </a:xfrm>
          <a:prstGeom prst="rect">
            <a:avLst/>
          </a:prstGeom>
          <a:solidFill>
            <a:srgbClr val="FFE599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3c269c06e9d_0_0"/>
          <p:cNvSpPr/>
          <p:nvPr/>
        </p:nvSpPr>
        <p:spPr>
          <a:xfrm>
            <a:off x="5858525" y="6234925"/>
            <a:ext cx="170100" cy="1701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g3c269c06e9d_0_0"/>
          <p:cNvSpPr txBox="1"/>
          <p:nvPr/>
        </p:nvSpPr>
        <p:spPr>
          <a:xfrm>
            <a:off x="8501150" y="6166075"/>
            <a:ext cx="12489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Csúszásban – mérföldkő tartható</a:t>
            </a:r>
            <a:endParaRPr b="0" i="0" sz="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8" name="Google Shape;148;g3c269c06e9d_0_0"/>
          <p:cNvSpPr txBox="1"/>
          <p:nvPr/>
        </p:nvSpPr>
        <p:spPr>
          <a:xfrm>
            <a:off x="6036113" y="6166075"/>
            <a:ext cx="13551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Teljesített kisebb csúszással</a:t>
            </a:r>
            <a:endParaRPr b="0" i="0" sz="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9" name="Google Shape;149;g3c269c06e9d_0_0"/>
          <p:cNvSpPr/>
          <p:nvPr/>
        </p:nvSpPr>
        <p:spPr>
          <a:xfrm>
            <a:off x="2512625" y="6252900"/>
            <a:ext cx="170100" cy="1701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c269c06e9d_0_0"/>
          <p:cNvSpPr txBox="1"/>
          <p:nvPr/>
        </p:nvSpPr>
        <p:spPr>
          <a:xfrm>
            <a:off x="2682725" y="6184050"/>
            <a:ext cx="10398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Tervek szerint teljesített</a:t>
            </a:r>
            <a:endParaRPr b="0" i="0" sz="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1" name="Google Shape;151;g3c269c06e9d_0_0"/>
          <p:cNvSpPr/>
          <p:nvPr/>
        </p:nvSpPr>
        <p:spPr>
          <a:xfrm>
            <a:off x="9742263" y="6247225"/>
            <a:ext cx="170100" cy="1701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g3c269c06e9d_0_0"/>
          <p:cNvSpPr txBox="1"/>
          <p:nvPr/>
        </p:nvSpPr>
        <p:spPr>
          <a:xfrm>
            <a:off x="9907400" y="6166075"/>
            <a:ext cx="13062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Csúszásban – mérföldkő veszélyeztetve</a:t>
            </a:r>
            <a:endParaRPr b="0" i="0" sz="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c269c06e9d_0_0"/>
          <p:cNvSpPr/>
          <p:nvPr/>
        </p:nvSpPr>
        <p:spPr>
          <a:xfrm>
            <a:off x="3657325" y="4095518"/>
            <a:ext cx="229200" cy="2292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3c269c06e9d_0_0"/>
          <p:cNvSpPr/>
          <p:nvPr/>
        </p:nvSpPr>
        <p:spPr>
          <a:xfrm>
            <a:off x="3657325" y="4584405"/>
            <a:ext cx="229200" cy="2292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3c269c06e9d_0_0"/>
          <p:cNvSpPr/>
          <p:nvPr/>
        </p:nvSpPr>
        <p:spPr>
          <a:xfrm>
            <a:off x="3657325" y="5076211"/>
            <a:ext cx="229200" cy="2292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3c269c06e9d_0_0"/>
          <p:cNvSpPr/>
          <p:nvPr/>
        </p:nvSpPr>
        <p:spPr>
          <a:xfrm>
            <a:off x="3657325" y="5556530"/>
            <a:ext cx="229200" cy="2292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g3c269c06e9d_0_0" title="ChatGPT Image May 22, 2025, 12_25_08 PM.png"/>
          <p:cNvPicPr preferRelativeResize="0"/>
          <p:nvPr/>
        </p:nvPicPr>
        <p:blipFill rotWithShape="1">
          <a:blip r:embed="rId3">
            <a:alphaModFix/>
          </a:blip>
          <a:srcRect b="37023" l="0" r="0" t="35765"/>
          <a:stretch/>
        </p:blipFill>
        <p:spPr>
          <a:xfrm>
            <a:off x="392600" y="6259750"/>
            <a:ext cx="1697027" cy="461701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g3c269c06e9d_0_0"/>
          <p:cNvSpPr txBox="1"/>
          <p:nvPr>
            <p:ph idx="12" type="sldNum"/>
          </p:nvPr>
        </p:nvSpPr>
        <p:spPr>
          <a:xfrm>
            <a:off x="90221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9" name="Google Shape;159;g3c269c06e9d_0_0"/>
          <p:cNvSpPr txBox="1"/>
          <p:nvPr/>
        </p:nvSpPr>
        <p:spPr>
          <a:xfrm>
            <a:off x="262950" y="210500"/>
            <a:ext cx="9753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AI Dokumentum Validációs Rendszer Fejlesztése</a:t>
            </a:r>
            <a:endParaRPr b="0" i="0" sz="11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2024-06-17T17:09:36Z</dcterms:created>
  <dc:creator>Tagscherer Ármin</dc:creator>
</cp:coreProperties>
</file>