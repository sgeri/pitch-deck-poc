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Montserrat Medium"/>
      <p:regular r:id="rId12"/>
      <p:bold r:id="rId13"/>
      <p:italic r:id="rId14"/>
      <p:boldItalic r:id="rId15"/>
    </p:embeddedFon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jf0EHCll7WRWIO0tUgUBe8D6B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35EBEF-B960-4722-BDED-C023B2E7E579}">
  <a:tblStyle styleId="{CD35EBEF-B960-4722-BDED-C023B2E7E57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MontserratMedium-bold.fntdata"/><Relationship Id="rId12" Type="http://schemas.openxmlformats.org/officeDocument/2006/relationships/font" Target="fonts/Montserrat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15" Type="http://schemas.openxmlformats.org/officeDocument/2006/relationships/font" Target="fonts/MontserratMedium-boldItalic.fntdata"/><Relationship Id="rId14" Type="http://schemas.openxmlformats.org/officeDocument/2006/relationships/font" Target="fonts/MontserratMedium-italic.fntdata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99ac7daa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a99ac7daa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269c06e9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c269c06e9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g3a99ac7daa2_0_0"/>
          <p:cNvGraphicFramePr/>
          <p:nvPr/>
        </p:nvGraphicFramePr>
        <p:xfrm>
          <a:off x="306450" y="262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{CD35EBEF-B960-4722-BDED-C023B2E7E579}</a:tableStyleId>
              </a:tblPr>
              <a:tblGrid>
                <a:gridCol w="594050"/>
                <a:gridCol w="2513925"/>
                <a:gridCol w="756000"/>
                <a:gridCol w="1086750"/>
                <a:gridCol w="1821175"/>
              </a:tblGrid>
              <a:tr h="26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#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Mérföldkő / Fő leszállítandó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Státusz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% készenlét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Komment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UX és UI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alapok definiálása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95%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Felhasználói feedback-ek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Alkalmazás- és adat alapstruktúra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kialakítása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Dokumentum feltöltés és -kezelés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modul 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AI-alapú </a:t>
                      </a: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dokumentum chunking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Validációs engine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és szabálykészlet 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AI workflow és prompting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optimalizálása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Közös tesztelésből findingok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9" name="Google Shape;89;g3a99ac7daa2_0_0"/>
          <p:cNvSpPr/>
          <p:nvPr/>
        </p:nvSpPr>
        <p:spPr>
          <a:xfrm>
            <a:off x="7346025" y="1983425"/>
            <a:ext cx="4436400" cy="118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UX és UI 95%-os készültségi szintre jutott, a fő képernyők, folyamatok és vizuális elemek elkészültek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Validation Engine ~90%-os készültségű, több pilot dokumentumon sikeresen lefutott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Megkezdődött az AI workflow és prompting optimalizálása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g3a99ac7daa2_0_0"/>
          <p:cNvSpPr txBox="1"/>
          <p:nvPr/>
        </p:nvSpPr>
        <p:spPr>
          <a:xfrm>
            <a:off x="262950" y="493650"/>
            <a:ext cx="1112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AI Dokumentum Validációs Rendszer Fejlesztése – Státusz</a:t>
            </a:r>
            <a:endParaRPr b="0" i="0" sz="2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g3a99ac7daa2_0_0"/>
          <p:cNvSpPr/>
          <p:nvPr/>
        </p:nvSpPr>
        <p:spPr>
          <a:xfrm>
            <a:off x="300100" y="1125359"/>
            <a:ext cx="6771900" cy="461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ÁLTALÁNOS STÁTUSZ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99ac7daa2_0_0"/>
          <p:cNvSpPr/>
          <p:nvPr/>
        </p:nvSpPr>
        <p:spPr>
          <a:xfrm>
            <a:off x="7346025" y="1125359"/>
            <a:ext cx="4436400" cy="461700"/>
          </a:xfrm>
          <a:prstGeom prst="rect">
            <a:avLst/>
          </a:prstGeom>
          <a:solidFill>
            <a:srgbClr val="3FC71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DÁTUM: 2025.12.09.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99ac7daa2_0_0"/>
          <p:cNvSpPr/>
          <p:nvPr/>
        </p:nvSpPr>
        <p:spPr>
          <a:xfrm>
            <a:off x="306500" y="1672900"/>
            <a:ext cx="6771900" cy="7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 AI-alapú dokumentum-validációs rendszer fő moduljai (dokumentum-feltöltés, AI feldarabolás, validációs engine, UX/UI keretrendszer) elkészültek első verzióban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fókusz a validációs szabálykészlet, a felhasználói felület és az AI workflow finomhangolásán, valamint a felhasználói teszteken és visszajelzéseken alapuló véglegesítésen van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g3a99ac7daa2_0_0"/>
          <p:cNvSpPr/>
          <p:nvPr/>
        </p:nvSpPr>
        <p:spPr>
          <a:xfrm>
            <a:off x="7346025" y="3639050"/>
            <a:ext cx="4436400" cy="118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Felhasználói tesztek futtatása a kulcsfelhasználókkal az end-to-end folyamaton, visszajelzések strukturált gyűjtése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teszteredmények alapján a Validation Engine véglegesítése és a fő validációs profil jóváhagyásának előkészítése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 AI workflow és prompting optimalizálásának folytatása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3a99ac7daa2_0_0"/>
          <p:cNvSpPr/>
          <p:nvPr/>
        </p:nvSpPr>
        <p:spPr>
          <a:xfrm>
            <a:off x="7346025" y="5294675"/>
            <a:ext cx="4436400" cy="64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Investor relations csapat riportkészítési folyamatának megismerése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Felhasználói tesztelés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g3a99ac7daa2_0_0"/>
          <p:cNvSpPr/>
          <p:nvPr/>
        </p:nvSpPr>
        <p:spPr>
          <a:xfrm>
            <a:off x="7346025" y="1675325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MÚLT HÉTEN ELVÉGZETT MUNKA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g3a99ac7daa2_0_0"/>
          <p:cNvSpPr/>
          <p:nvPr/>
        </p:nvSpPr>
        <p:spPr>
          <a:xfrm>
            <a:off x="7346025" y="3330950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FŐ FELADATOK A HÉTRE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g3a99ac7daa2_0_0"/>
          <p:cNvSpPr/>
          <p:nvPr/>
        </p:nvSpPr>
        <p:spPr>
          <a:xfrm>
            <a:off x="7346025" y="4986575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NYITOTT KÉRDÉSEK, KOCKÁZATOK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3a99ac7daa2_0_0"/>
          <p:cNvSpPr/>
          <p:nvPr/>
        </p:nvSpPr>
        <p:spPr>
          <a:xfrm>
            <a:off x="3657325" y="3123381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a99ac7daa2_0_0"/>
          <p:cNvSpPr/>
          <p:nvPr/>
        </p:nvSpPr>
        <p:spPr>
          <a:xfrm>
            <a:off x="3657325" y="3618739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a99ac7daa2_0_0"/>
          <p:cNvSpPr/>
          <p:nvPr/>
        </p:nvSpPr>
        <p:spPr>
          <a:xfrm>
            <a:off x="3631100" y="6250375"/>
            <a:ext cx="170100" cy="1701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a99ac7daa2_0_0"/>
          <p:cNvSpPr txBox="1"/>
          <p:nvPr/>
        </p:nvSpPr>
        <p:spPr>
          <a:xfrm>
            <a:off x="3817413" y="6166075"/>
            <a:ext cx="1086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Haladás tervek szerint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g3a99ac7daa2_0_0"/>
          <p:cNvSpPr/>
          <p:nvPr/>
        </p:nvSpPr>
        <p:spPr>
          <a:xfrm>
            <a:off x="4752025" y="6237450"/>
            <a:ext cx="170100" cy="1701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a99ac7daa2_0_0"/>
          <p:cNvSpPr/>
          <p:nvPr/>
        </p:nvSpPr>
        <p:spPr>
          <a:xfrm>
            <a:off x="7102688" y="6250375"/>
            <a:ext cx="170100" cy="170100"/>
          </a:xfrm>
          <a:prstGeom prst="rect">
            <a:avLst/>
          </a:prstGeom>
          <a:solidFill>
            <a:srgbClr val="6D9EEB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a99ac7daa2_0_0"/>
          <p:cNvSpPr txBox="1"/>
          <p:nvPr/>
        </p:nvSpPr>
        <p:spPr>
          <a:xfrm>
            <a:off x="4922125" y="6184050"/>
            <a:ext cx="91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nem kezdett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g3a99ac7daa2_0_0"/>
          <p:cNvSpPr txBox="1"/>
          <p:nvPr/>
        </p:nvSpPr>
        <p:spPr>
          <a:xfrm>
            <a:off x="7272788" y="6166075"/>
            <a:ext cx="917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nem kezdett, csúszásban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g3a99ac7daa2_0_0"/>
          <p:cNvSpPr/>
          <p:nvPr/>
        </p:nvSpPr>
        <p:spPr>
          <a:xfrm>
            <a:off x="8336613" y="6234925"/>
            <a:ext cx="170100" cy="1701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a99ac7daa2_0_0"/>
          <p:cNvSpPr/>
          <p:nvPr/>
        </p:nvSpPr>
        <p:spPr>
          <a:xfrm>
            <a:off x="5858525" y="6234925"/>
            <a:ext cx="170100" cy="1701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a99ac7daa2_0_0"/>
          <p:cNvSpPr txBox="1"/>
          <p:nvPr/>
        </p:nvSpPr>
        <p:spPr>
          <a:xfrm>
            <a:off x="8501150" y="6166075"/>
            <a:ext cx="1248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Csúszásban – mérföldkő tartható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g3a99ac7daa2_0_0"/>
          <p:cNvSpPr txBox="1"/>
          <p:nvPr/>
        </p:nvSpPr>
        <p:spPr>
          <a:xfrm>
            <a:off x="6036113" y="6166075"/>
            <a:ext cx="1355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Teljesített kisebb csúszással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g3a99ac7daa2_0_0"/>
          <p:cNvSpPr/>
          <p:nvPr/>
        </p:nvSpPr>
        <p:spPr>
          <a:xfrm>
            <a:off x="2512625" y="6252900"/>
            <a:ext cx="170100" cy="1701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a99ac7daa2_0_0"/>
          <p:cNvSpPr txBox="1"/>
          <p:nvPr/>
        </p:nvSpPr>
        <p:spPr>
          <a:xfrm>
            <a:off x="2682725" y="6184050"/>
            <a:ext cx="1039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Tervek szerint teljesített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g3a99ac7daa2_0_0"/>
          <p:cNvSpPr/>
          <p:nvPr/>
        </p:nvSpPr>
        <p:spPr>
          <a:xfrm>
            <a:off x="9742263" y="6247225"/>
            <a:ext cx="170100" cy="1701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a99ac7daa2_0_0"/>
          <p:cNvSpPr txBox="1"/>
          <p:nvPr/>
        </p:nvSpPr>
        <p:spPr>
          <a:xfrm>
            <a:off x="9907400" y="6166075"/>
            <a:ext cx="13062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Csúszásban – mérföldkő veszélyeztetve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g3a99ac7daa2_0_0"/>
          <p:cNvSpPr/>
          <p:nvPr/>
        </p:nvSpPr>
        <p:spPr>
          <a:xfrm>
            <a:off x="3657325" y="4095518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a99ac7daa2_0_0"/>
          <p:cNvSpPr/>
          <p:nvPr/>
        </p:nvSpPr>
        <p:spPr>
          <a:xfrm>
            <a:off x="3657325" y="4584405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a99ac7daa2_0_0"/>
          <p:cNvSpPr/>
          <p:nvPr/>
        </p:nvSpPr>
        <p:spPr>
          <a:xfrm>
            <a:off x="3657325" y="5076211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a99ac7daa2_0_0"/>
          <p:cNvSpPr/>
          <p:nvPr/>
        </p:nvSpPr>
        <p:spPr>
          <a:xfrm>
            <a:off x="3657325" y="5556530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g3a99ac7daa2_0_0" title="ChatGPT Image May 22, 2025, 12_25_08 PM.png"/>
          <p:cNvPicPr preferRelativeResize="0"/>
          <p:nvPr/>
        </p:nvPicPr>
        <p:blipFill rotWithShape="1">
          <a:blip r:embed="rId3">
            <a:alphaModFix/>
          </a:blip>
          <a:srcRect b="37022" l="0" r="0" t="35767"/>
          <a:stretch/>
        </p:blipFill>
        <p:spPr>
          <a:xfrm>
            <a:off x="392600" y="6259750"/>
            <a:ext cx="1697027" cy="461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a99ac7daa2_0_0"/>
          <p:cNvSpPr txBox="1"/>
          <p:nvPr>
            <p:ph idx="12" type="sldNum"/>
          </p:nvPr>
        </p:nvSpPr>
        <p:spPr>
          <a:xfrm>
            <a:off x="90221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g3a99ac7daa2_0_0"/>
          <p:cNvSpPr txBox="1"/>
          <p:nvPr/>
        </p:nvSpPr>
        <p:spPr>
          <a:xfrm>
            <a:off x="262950" y="210500"/>
            <a:ext cx="975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Dokumentum Validációs Rendszer Fejlesztése</a:t>
            </a:r>
            <a:endParaRPr b="0" i="0" sz="11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126;g3c269c06e9d_0_0"/>
          <p:cNvGraphicFramePr/>
          <p:nvPr/>
        </p:nvGraphicFramePr>
        <p:xfrm>
          <a:off x="306450" y="262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{CD35EBEF-B960-4722-BDED-C023B2E7E579}</a:tableStyleId>
              </a:tblPr>
              <a:tblGrid>
                <a:gridCol w="594050"/>
                <a:gridCol w="2513925"/>
                <a:gridCol w="756000"/>
                <a:gridCol w="1086750"/>
                <a:gridCol w="1821175"/>
              </a:tblGrid>
              <a:tr h="26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#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Mérföldkő / Fő leszállítandó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Státusz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% készenlét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Komment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UX és UI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alapok definiálása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[5]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[6]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Alkalmazás- és adat alapstruktúra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kialakítása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[7]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[8]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Dokumentum feltöltés és -kezelés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modul 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[9]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[10]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AI-alapú </a:t>
                      </a: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dokumentum chunking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[11]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[12]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Validációs engine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és szabálykészlet 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[13]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[14]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AI workflow és prompting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optimalizálása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[15]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[16]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7" name="Google Shape;127;g3c269c06e9d_0_0"/>
          <p:cNvSpPr/>
          <p:nvPr/>
        </p:nvSpPr>
        <p:spPr>
          <a:xfrm>
            <a:off x="7346025" y="1983425"/>
            <a:ext cx="4436400" cy="118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3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g3c269c06e9d_0_0"/>
          <p:cNvSpPr txBox="1"/>
          <p:nvPr/>
        </p:nvSpPr>
        <p:spPr>
          <a:xfrm>
            <a:off x="262950" y="493650"/>
            <a:ext cx="1112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AI Dokumentum Validációs Rendszer Fejlesztése – Státusz</a:t>
            </a:r>
            <a:endParaRPr b="0" i="0" sz="2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9" name="Google Shape;129;g3c269c06e9d_0_0"/>
          <p:cNvSpPr/>
          <p:nvPr/>
        </p:nvSpPr>
        <p:spPr>
          <a:xfrm>
            <a:off x="300100" y="1125359"/>
            <a:ext cx="6771900" cy="461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ÁLTALÁNOS STÁTUSZ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g3c269c06e9d_0_0"/>
          <p:cNvSpPr/>
          <p:nvPr/>
        </p:nvSpPr>
        <p:spPr>
          <a:xfrm>
            <a:off x="7346025" y="1125359"/>
            <a:ext cx="4436400" cy="461700"/>
          </a:xfrm>
          <a:prstGeom prst="rect">
            <a:avLst/>
          </a:prstGeom>
          <a:solidFill>
            <a:srgbClr val="3FC71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[17]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g3c269c06e9d_0_0"/>
          <p:cNvSpPr/>
          <p:nvPr/>
        </p:nvSpPr>
        <p:spPr>
          <a:xfrm>
            <a:off x="306500" y="1672900"/>
            <a:ext cx="6771900" cy="7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3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g3c269c06e9d_0_0"/>
          <p:cNvSpPr/>
          <p:nvPr/>
        </p:nvSpPr>
        <p:spPr>
          <a:xfrm>
            <a:off x="7346025" y="3639050"/>
            <a:ext cx="4436400" cy="118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3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lang="en-US" sz="1100">
                <a:latin typeface="Helvetica Neue"/>
                <a:ea typeface="Helvetica Neue"/>
                <a:cs typeface="Helvetica Neue"/>
                <a:sym typeface="Helvetica Neue"/>
              </a:rPr>
              <a:t>[3]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g3c269c06e9d_0_0"/>
          <p:cNvSpPr/>
          <p:nvPr/>
        </p:nvSpPr>
        <p:spPr>
          <a:xfrm>
            <a:off x="7346025" y="5294675"/>
            <a:ext cx="4436400" cy="64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3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lang="en-US" sz="1100">
                <a:latin typeface="Helvetica Neue"/>
                <a:ea typeface="Helvetica Neue"/>
                <a:cs typeface="Helvetica Neue"/>
                <a:sym typeface="Helvetica Neue"/>
              </a:rPr>
              <a:t>[4]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g3c269c06e9d_0_0"/>
          <p:cNvSpPr/>
          <p:nvPr/>
        </p:nvSpPr>
        <p:spPr>
          <a:xfrm>
            <a:off x="7346025" y="1675325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MÚLT HÉTEN ELVÉGZETT MUNKA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g3c269c06e9d_0_0"/>
          <p:cNvSpPr/>
          <p:nvPr/>
        </p:nvSpPr>
        <p:spPr>
          <a:xfrm>
            <a:off x="7346025" y="3330950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FŐ FELADATOK A HÉTRE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g3c269c06e9d_0_0"/>
          <p:cNvSpPr/>
          <p:nvPr/>
        </p:nvSpPr>
        <p:spPr>
          <a:xfrm>
            <a:off x="7346025" y="4986575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NYITOTT KÉRDÉSEK, KOCKÁZATOK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g3c269c06e9d_0_0"/>
          <p:cNvSpPr/>
          <p:nvPr/>
        </p:nvSpPr>
        <p:spPr>
          <a:xfrm>
            <a:off x="3657325" y="3123381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c269c06e9d_0_0"/>
          <p:cNvSpPr/>
          <p:nvPr/>
        </p:nvSpPr>
        <p:spPr>
          <a:xfrm>
            <a:off x="3657325" y="3618739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c269c06e9d_0_0"/>
          <p:cNvSpPr/>
          <p:nvPr/>
        </p:nvSpPr>
        <p:spPr>
          <a:xfrm>
            <a:off x="3631100" y="6250375"/>
            <a:ext cx="170100" cy="1701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c269c06e9d_0_0"/>
          <p:cNvSpPr txBox="1"/>
          <p:nvPr/>
        </p:nvSpPr>
        <p:spPr>
          <a:xfrm>
            <a:off x="3817413" y="6166075"/>
            <a:ext cx="1086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Haladás tervek szerint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g3c269c06e9d_0_0"/>
          <p:cNvSpPr/>
          <p:nvPr/>
        </p:nvSpPr>
        <p:spPr>
          <a:xfrm>
            <a:off x="4752025" y="6237450"/>
            <a:ext cx="170100" cy="1701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c269c06e9d_0_0"/>
          <p:cNvSpPr/>
          <p:nvPr/>
        </p:nvSpPr>
        <p:spPr>
          <a:xfrm>
            <a:off x="7102688" y="6250375"/>
            <a:ext cx="170100" cy="170100"/>
          </a:xfrm>
          <a:prstGeom prst="rect">
            <a:avLst/>
          </a:prstGeom>
          <a:solidFill>
            <a:srgbClr val="6D9EEB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c269c06e9d_0_0"/>
          <p:cNvSpPr txBox="1"/>
          <p:nvPr/>
        </p:nvSpPr>
        <p:spPr>
          <a:xfrm>
            <a:off x="4922125" y="6184050"/>
            <a:ext cx="91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nem kezdett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g3c269c06e9d_0_0"/>
          <p:cNvSpPr txBox="1"/>
          <p:nvPr/>
        </p:nvSpPr>
        <p:spPr>
          <a:xfrm>
            <a:off x="7272788" y="6166075"/>
            <a:ext cx="917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nem kezdett, csúszásban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g3c269c06e9d_0_0"/>
          <p:cNvSpPr/>
          <p:nvPr/>
        </p:nvSpPr>
        <p:spPr>
          <a:xfrm>
            <a:off x="8336613" y="6234925"/>
            <a:ext cx="170100" cy="1701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c269c06e9d_0_0"/>
          <p:cNvSpPr/>
          <p:nvPr/>
        </p:nvSpPr>
        <p:spPr>
          <a:xfrm>
            <a:off x="5858525" y="6234925"/>
            <a:ext cx="170100" cy="1701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c269c06e9d_0_0"/>
          <p:cNvSpPr txBox="1"/>
          <p:nvPr/>
        </p:nvSpPr>
        <p:spPr>
          <a:xfrm>
            <a:off x="8501150" y="6166075"/>
            <a:ext cx="1248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Csúszásban – mérföldkő tartható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g3c269c06e9d_0_0"/>
          <p:cNvSpPr txBox="1"/>
          <p:nvPr/>
        </p:nvSpPr>
        <p:spPr>
          <a:xfrm>
            <a:off x="6036113" y="6166075"/>
            <a:ext cx="1355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Teljesített kisebb csúszással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g3c269c06e9d_0_0"/>
          <p:cNvSpPr/>
          <p:nvPr/>
        </p:nvSpPr>
        <p:spPr>
          <a:xfrm>
            <a:off x="2512625" y="6252900"/>
            <a:ext cx="170100" cy="1701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c269c06e9d_0_0"/>
          <p:cNvSpPr txBox="1"/>
          <p:nvPr/>
        </p:nvSpPr>
        <p:spPr>
          <a:xfrm>
            <a:off x="2682725" y="6184050"/>
            <a:ext cx="1039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Tervek szerint teljesített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g3c269c06e9d_0_0"/>
          <p:cNvSpPr/>
          <p:nvPr/>
        </p:nvSpPr>
        <p:spPr>
          <a:xfrm>
            <a:off x="9742263" y="6247225"/>
            <a:ext cx="170100" cy="1701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c269c06e9d_0_0"/>
          <p:cNvSpPr txBox="1"/>
          <p:nvPr/>
        </p:nvSpPr>
        <p:spPr>
          <a:xfrm>
            <a:off x="9907400" y="6166075"/>
            <a:ext cx="13062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Csúszásban – mérföldkő veszélyeztetve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c269c06e9d_0_0"/>
          <p:cNvSpPr/>
          <p:nvPr/>
        </p:nvSpPr>
        <p:spPr>
          <a:xfrm>
            <a:off x="3657325" y="4095518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c269c06e9d_0_0"/>
          <p:cNvSpPr/>
          <p:nvPr/>
        </p:nvSpPr>
        <p:spPr>
          <a:xfrm>
            <a:off x="3657325" y="4584405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c269c06e9d_0_0"/>
          <p:cNvSpPr/>
          <p:nvPr/>
        </p:nvSpPr>
        <p:spPr>
          <a:xfrm>
            <a:off x="3657325" y="5076211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c269c06e9d_0_0"/>
          <p:cNvSpPr/>
          <p:nvPr/>
        </p:nvSpPr>
        <p:spPr>
          <a:xfrm>
            <a:off x="3657325" y="5556530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g3c269c06e9d_0_0" title="ChatGPT Image May 22, 2025, 12_25_08 PM.png"/>
          <p:cNvPicPr preferRelativeResize="0"/>
          <p:nvPr/>
        </p:nvPicPr>
        <p:blipFill rotWithShape="1">
          <a:blip r:embed="rId3">
            <a:alphaModFix/>
          </a:blip>
          <a:srcRect b="37023" l="0" r="0" t="35765"/>
          <a:stretch/>
        </p:blipFill>
        <p:spPr>
          <a:xfrm>
            <a:off x="392600" y="6259750"/>
            <a:ext cx="1697027" cy="4617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c269c06e9d_0_0"/>
          <p:cNvSpPr txBox="1"/>
          <p:nvPr>
            <p:ph idx="12" type="sldNum"/>
          </p:nvPr>
        </p:nvSpPr>
        <p:spPr>
          <a:xfrm>
            <a:off x="90221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g3c269c06e9d_0_0"/>
          <p:cNvSpPr txBox="1"/>
          <p:nvPr/>
        </p:nvSpPr>
        <p:spPr>
          <a:xfrm>
            <a:off x="262950" y="210500"/>
            <a:ext cx="975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Dokumentum Validációs Rendszer Fejlesztése</a:t>
            </a:r>
            <a:endParaRPr b="0" i="0" sz="11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2024-06-17T17:09:36Z</dcterms:created>
  <dc:creator>Tagscherer Ármin</dc:creator>
</cp:coreProperties>
</file>